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TITELFOLIE — Felix (Scrum Master), ca. 20 Sekunden.</a:t>
            </a:r>
          </a:p>
          <a:p/>
          <a:p>
            <a:r>
              <a:t>Kontext: Wir sind die ERSTE Gruppe in der Reihenfolge. Kein "wie ihr vorhin gesehen habt" möglich — sauber einsteigen.</a:t>
            </a:r>
          </a:p>
          <a:p/>
          <a:p>
            <a:r>
              <a:t>Begrüssung:</a:t>
            </a:r>
          </a:p>
          <a:p>
            <a:r>
              <a:t>- "Guten Tag. Wir machen den Anfang."</a:t>
            </a:r>
          </a:p>
          <a:p>
            <a:r>
              <a:t>- "Wir sind Felix, Jovin und Luis und stellen euch unseren Case vor: Beteiligung von Jugendlichen, Produkt RaumVote."</a:t>
            </a:r>
          </a:p>
          <a:p>
            <a:r>
              <a:t>- "Unsere Botschaft: ‚Deine Stimme für deinen Raum.'"</a:t>
            </a:r>
          </a:p>
          <a:p/>
          <a:p>
            <a:r>
              <a:t>Wichtig kurz erwähnen:</a:t>
            </a:r>
          </a:p>
          <a:p>
            <a:r>
              <a:t>- Wir sind ein interdisziplinäres Team: Felix und Luis aus dem Wirtschaftsingenieurwesen, Jovin aus der Informatik.</a:t>
            </a:r>
          </a:p>
          <a:p>
            <a:r>
              <a:t>- Jovin ist heute nicht vor Ort — sein Beitrag kommt gleich als 1.5-min Video.</a:t>
            </a:r>
          </a:p>
          <a:p/>
          <a:p>
            <a:r>
              <a:t>Ablauf:</a:t>
            </a:r>
          </a:p>
          <a:p>
            <a:r>
              <a:t>- Rund 7 Minuten Präsentation</a:t>
            </a:r>
          </a:p>
          <a:p>
            <a:r>
              <a:t>- 5 Minuten Live-Voting — ihr macht alle mit</a:t>
            </a:r>
          </a:p>
          <a:p>
            <a:r>
              <a:t>- 5 Minuten Fragen</a:t>
            </a:r>
          </a:p>
          <a:p/>
          <a:p>
            <a:r>
              <a:t>Übergang: "Beginnen wir mit dem, was uns auf diese Idee gebracht hat."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FREITAGABEND, DORFPLATZ — Felix, ca. 50 Sekunden.</a:t>
            </a:r>
          </a:p>
          <a:p/>
          <a:p>
            <a:r>
              <a:t>Bildlich einsteigen, nicht ablesen:</a:t>
            </a:r>
          </a:p>
          <a:p>
            <a:r>
              <a:t>- "Stellt euch einen Freitagabend auf einem Dorfplatz vor."</a:t>
            </a:r>
          </a:p>
          <a:p>
            <a:r>
              <a:t>- "Jugendliche treffen sich, hören Musik, hängen ab — für sie ein zentraler sozialer Treffpunkt."</a:t>
            </a:r>
          </a:p>
          <a:p>
            <a:r>
              <a:t>- "Anwohnende beschweren sich über Lärm. Die Gemeinde reagiert — meistens, ohne mit den Jugendlichen zu reden."</a:t>
            </a:r>
          </a:p>
          <a:p/>
          <a:p>
            <a:r>
              <a:t>Daraus das Muster ableiten:</a:t>
            </a:r>
          </a:p>
          <a:p>
            <a:r>
              <a:t>- Klassische Formate (Vernehmlassungen, Abendsitzungen, formale Eingaben) passen nicht in den Alltag von 14- bis 18-Jährigen.</a:t>
            </a:r>
          </a:p>
          <a:p>
            <a:r>
              <a:t>- Wer keinen Vereinszugang hat — und das ist die grosse Mehrheit — bleibt im Prozess unsichtbar.</a:t>
            </a:r>
          </a:p>
          <a:p>
            <a:r>
              <a:t>- Ohne Vertrauen in den Umgang mit ihren Daten beteiligen sich Jugendliche nicht ehrlich.</a:t>
            </a:r>
          </a:p>
          <a:p/>
          <a:p>
            <a:r>
              <a:t>Rechte Box — UN-Kinderrechtskonvention Artikel 12:</a:t>
            </a:r>
          </a:p>
          <a:p>
            <a:r>
              <a:t>- "International haben Jugendliche das Recht, in allen sie betreffenden Angelegenheiten gehört zu werden."</a:t>
            </a:r>
          </a:p>
          <a:p>
            <a:r>
              <a:t>- "Die Schweiz hat das ratifiziert. Kommunal wird es selten konsequent umgesetzt."</a:t>
            </a:r>
          </a:p>
          <a:p/>
          <a:p>
            <a:r>
              <a:t>Übergang: "Wir haben uns gefragt: wie ändert man das? Daraus ist RaumVote entstanden — mit vier klaren Prinzipien."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UNSERE ANTWORT — Felix, ca. 50 Sekunden.</a:t>
            </a:r>
          </a:p>
          <a:p/>
          <a:p>
            <a:r>
              <a:t>Wichtig: Diese vier Prinzipien sind nicht aus dem Bauch — sie kommen direkt aus den User Stories der drei Stakeholder.</a:t>
            </a:r>
          </a:p>
          <a:p/>
          <a:p>
            <a:r>
              <a:t>P1 — Anonym &amp; niederschwellig</a:t>
            </a:r>
          </a:p>
          <a:p>
            <a:r>
              <a:t>"Brief mit QR-Code, ein Scan, kein Account. Auch Jugendliche ohne Vereinsanbindung kommen rein."</a:t>
            </a:r>
          </a:p>
          <a:p/>
          <a:p>
            <a:r>
              <a:t>P2 — Mobile &amp; spielerisch</a:t>
            </a:r>
          </a:p>
          <a:p>
            <a:r>
              <a:t>"Swipe statt Formular. Eine Frage pro Bildschirm. Bewusst angelehnt an die App-Welt, in der Jugendliche zu Hause sind."</a:t>
            </a:r>
          </a:p>
          <a:p/>
          <a:p>
            <a:r>
              <a:t>P3 — Datenschutz von Grund auf</a:t>
            </a:r>
          </a:p>
          <a:p>
            <a:r>
              <a:t>"Auch wir als Betreiber sehen keine Klarnamen. Identitäten werden vor der Speicherung verschlüsselt — das ist Designprinzip, nicht nachträgliche Pflichtübung."</a:t>
            </a:r>
          </a:p>
          <a:p/>
          <a:p>
            <a:r>
              <a:t>P4 — Anschlussfähig für die Gemeinde</a:t>
            </a:r>
          </a:p>
          <a:p>
            <a:r>
              <a:t>"Am Ende kriegt die Gemeinde eine klare Rangliste — direkt verwendbar im nächsten Planungsworkshop. Keine Rohdaten, die niemand interpretieren kann."</a:t>
            </a:r>
          </a:p>
          <a:p/>
          <a:p>
            <a:r>
              <a:t>Übergang: "Wie sieht das in der App konkret aus?"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FUNKTIONIERT RAUMVOTE — Felix, ca. 30 Sekunden.</a:t>
            </a:r>
          </a:p>
          <a:p/>
          <a:p>
            <a:r>
              <a:t>Drei Schritte, klar und schnell:</a:t>
            </a:r>
          </a:p>
          <a:p/>
          <a:p>
            <a:r>
              <a:t>1. QR scannen</a:t>
            </a:r>
          </a:p>
          <a:p>
            <a:r>
              <a:t>"Brief im Briefkasten. QR drauf. Scan — die Berechtigung wird lokal auf dem Handy gespeichert. Kein Login, kein Passwort."</a:t>
            </a:r>
          </a:p>
          <a:p/>
          <a:p>
            <a:r>
              <a:t>2. Swipe durch den Baum</a:t>
            </a:r>
          </a:p>
          <a:p>
            <a:r>
              <a:t>"Zwei Bildoptionen auf dem Bildschirm. Wisch nach links oder rechts. Die nächste Ebene baut sich automatisch auf. So findest du Schritt für Schritt deine Idealvorstellung."</a:t>
            </a:r>
          </a:p>
          <a:p/>
          <a:p>
            <a:r>
              <a:t>3. Wähle deinen Traumraum</a:t>
            </a:r>
          </a:p>
          <a:p>
            <a:r>
              <a:t>"Am Ende landest du bei einer konkreten Option. Die gibst du als Stimme ab. Likes und Kommentare ermöglichen Austausch. Du siehst live, was andere gewählt haben."</a:t>
            </a:r>
          </a:p>
          <a:p/>
          <a:p>
            <a:r>
              <a:t>Box unten kurz benennen:</a:t>
            </a:r>
          </a:p>
          <a:p>
            <a:r>
              <a:t>"Für die Gemeinde fällt am Ende eine anonyme Präferenzkarte ab — direkt einsetzbar in Planungsworkshops."</a:t>
            </a:r>
          </a:p>
          <a:p/>
          <a:p>
            <a:r>
              <a:t>Übergang: "Wie das technisch im Hintergrund läuft, zeigt euch jetzt Jovin im Video."</a:t>
            </a:r>
          </a:p>
          <a:p/>
          <a:p>
            <a:r>
              <a:t>→ Felix oder Luis startet jetzt das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HINTER DEN KULISSEN — Video, 1.5 min, KEINE LIVE-SPRECHE.</a:t>
            </a:r>
          </a:p>
          <a:p/>
          <a:p>
            <a:r>
              <a:t>Aktion vor dem Video:</a:t>
            </a:r>
          </a:p>
          <a:p>
            <a:r>
              <a:t>- Separates Videofenster (implementation-jovin.mp4) auf den Beamer ziehen oder Vollbild.</a:t>
            </a:r>
          </a:p>
          <a:p>
            <a:r>
              <a:t>- Lautstärke vorher prüfen.</a:t>
            </a:r>
          </a:p>
          <a:p/>
          <a:p>
            <a:r>
              <a:t>Video-Inhalt (zur eigenen Orientierung, damit ihr in der Q&amp;A bei Bedarf darauf verweisen könnt):</a:t>
            </a:r>
          </a:p>
          <a:p>
            <a:r>
              <a:t>- 0:00–0:20  Architektur — wie die App im Betrieb läuft</a:t>
            </a:r>
          </a:p>
          <a:p>
            <a:r>
              <a:t>- 0:20–0:55  Wie die KI im Hintergrund die Entscheidungsbäume und Bilder erzeugt</a:t>
            </a:r>
          </a:p>
          <a:p>
            <a:r>
              <a:t>- 0:55–1:25  Wie der Datenschutz technisch sichergestellt wird</a:t>
            </a:r>
          </a:p>
          <a:p>
            <a:r>
              <a:t>- 1:25–1:30  Outro</a:t>
            </a:r>
          </a:p>
          <a:p/>
          <a:p>
            <a:r>
              <a:t>Nach dem Video:</a:t>
            </a:r>
          </a:p>
          <a:p>
            <a:r>
              <a:t>- Zurück zur Präsi.</a:t>
            </a:r>
          </a:p>
          <a:p>
            <a:r>
              <a:t>- Luis übernimmt: "Was wir aus all dem gelernt haben."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WAS WIR GELERNT HABEN — Luis (PO), ca. 60 Sekunden.</a:t>
            </a:r>
          </a:p>
          <a:p/>
          <a:p>
            <a:r>
              <a:t>Vier inhaltliche Erkenntnisse:</a:t>
            </a:r>
          </a:p>
          <a:p/>
          <a:p>
            <a:r>
              <a:t>1. Konzept vor Code</a:t>
            </a:r>
          </a:p>
          <a:p>
            <a:r>
              <a:t>"Wir haben mit Design Thinking begonnen, nicht mit Programmieren. Diese Reihenfolge hat sich bewährt: Erst verstehen, wer was wirklich braucht, dann bauen. So entsteht kein Tool für sich selbst."</a:t>
            </a:r>
          </a:p>
          <a:p/>
          <a:p>
            <a:r>
              <a:t>2. Drei Stakeholder, ein Tool</a:t>
            </a:r>
          </a:p>
          <a:p>
            <a:r>
              <a:t>"Jugendliche wollen Niederschwelligkeit. Die Jugendarbeit braucht Moderationsrechte gegen Missbrauch. Die Gemeinde will brauchbare Resultate. Diese drei Perspektiven in einem Format auszubalancieren war die Königsdisziplin."</a:t>
            </a:r>
          </a:p>
          <a:p/>
          <a:p>
            <a:r>
              <a:t>3. Niederschwellig hat Grenzen</a:t>
            </a:r>
          </a:p>
          <a:p>
            <a:r>
              <a:t>"Ein QR-Code kann fotografiert und weitergeleitet werden — theoretisch kann ein Token viral gehen. Wir haben dieses Risiko bewusst akzeptiert und administrative Steuerung eingebaut: verdächtige Tokens können deaktiviert werden."</a:t>
            </a:r>
          </a:p>
          <a:p/>
          <a:p>
            <a:r>
              <a:t>4. Test mit echten Jugendlichen steht aus</a:t>
            </a:r>
          </a:p>
          <a:p>
            <a:r>
              <a:t>"Im Semester konnten wir das nicht mehr organisieren. Aber: das vollständige Testkonzept liegt im Bericht und kann von der Gemeinde direkt für die Pilotphase verwendet werden."</a:t>
            </a:r>
          </a:p>
          <a:p/>
          <a:p>
            <a:r>
              <a:t>Persönlich (blau hervorgehoben am unteren Rand) — wichtig, kurz aber ehrlich:</a:t>
            </a:r>
          </a:p>
          <a:p>
            <a:r>
              <a:t>"Persönlich: Wir haben uns als Team sehr gut ergänzt. Die Zusammenarbeit zwischen Wirtschaftsingenieurwesen und Informatik war für uns alle eine echte Bereicherung — fachlich und menschlich."</a:t>
            </a:r>
          </a:p>
          <a:p/>
          <a:p>
            <a:r>
              <a:t>Übergang: "Genug Theorie. Jetzt seid ihr dran."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— Luis, Aufforderung ca. 20 Sekunden, dann 5 min Live-Voting.</a:t>
            </a:r>
          </a:p>
          <a:p/>
          <a:p>
            <a:r>
              <a:t>Sofort-Action:</a:t>
            </a:r>
          </a:p>
          <a:p>
            <a:r>
              <a:t>- "Bitte den QR-Code auf eurem Brief scannen — wir machen jetzt ein Live-Voting."</a:t>
            </a:r>
          </a:p>
          <a:p>
            <a:r>
              <a:t>- Beamer auf RaumVote-App umschalten (Browser mit aktiver Session vorbereitet).</a:t>
            </a:r>
          </a:p>
          <a:p/>
          <a:p>
            <a:r>
              <a:t>Ablauf (5 Minuten, Felix moderiert mit):</a:t>
            </a:r>
          </a:p>
          <a:p>
            <a:r>
              <a:t>- 0:00–0:30  Alle scannen, landen im Startbildschirm. Beamer zeigt den Einstieg.</a:t>
            </a:r>
          </a:p>
          <a:p>
            <a:r>
              <a:t>- 0:30–3:00  Alle navigieren durch denselben Beispiel-Baum. Kurze Anleitung: "Wisch zu der Option, die euch mehr anspricht."</a:t>
            </a:r>
          </a:p>
          <a:p>
            <a:r>
              <a:t>- 3:00–4:00  Beamer wechselt auf die Resultate — Live-Rangliste.</a:t>
            </a:r>
          </a:p>
          <a:p>
            <a:r>
              <a:t>- 4:00–5:00  Kurze Reflexion mit dem Publikum: "Was hat euch beim Voten überrascht? Hat eine Option gewonnen, die ihr nicht erwartet hättet?"</a:t>
            </a:r>
          </a:p>
          <a:p/>
          <a:p>
            <a:r>
              <a:t>Backup-Pläne (die Dozierenden empfehlen explizit ein Demo-Video als Backup):</a:t>
            </a:r>
          </a:p>
          <a:p>
            <a:r>
              <a:t>- WLAN-Problem: Hotspot vom Handy bereithalten.</a:t>
            </a:r>
          </a:p>
          <a:p>
            <a:r>
              <a:t>- Komplettausfall: Demo-Backup-Video als mp4 lokal bereit (60–90 Sekunden, zeigt den Flow inkl. Resultate). VOR der Präsi testen.</a:t>
            </a:r>
          </a:p>
          <a:p>
            <a:r>
              <a:t>- Ankündigen statt Verschweigen, falls etwas hängt: "Wir nehmen kurz das Backup-Video — die Idee ist dieselbe."</a:t>
            </a:r>
          </a:p>
          <a:p/>
          <a:p>
            <a:r>
              <a:t>Übergang: "Bevor wir zu euren Fragen kommen — kurz noch zur KI-Transparenz."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KI-UNTERSTÜTZUNG — Luis oder Felix, ca. 15 Sekunden.</a:t>
            </a:r>
          </a:p>
          <a:p/>
          <a:p>
            <a:r>
              <a:t>Sachlich und kurz:</a:t>
            </a:r>
          </a:p>
          <a:p/>
          <a:p>
            <a:r>
              <a:t>"In dieser Arbeit selbst:</a:t>
            </a:r>
          </a:p>
          <a:p>
            <a:r>
              <a:t>- Wir haben Claude und ChatGPT eingesetzt für Struktur, Text und technische Unterstützung beim Code.</a:t>
            </a:r>
          </a:p>
          <a:p/>
          <a:p>
            <a:r>
              <a:t>Im laufenden RaumVote-Betrieb:</a:t>
            </a:r>
          </a:p>
          <a:p>
            <a:r>
              <a:t>- GPT-4o generiert die Entscheidungsbäume in Echtzeit.</a:t>
            </a:r>
          </a:p>
          <a:p>
            <a:r>
              <a:t>- Gemini erzeugt die zugehörigen Bilder.</a:t>
            </a:r>
          </a:p>
          <a:p/>
          <a:p>
            <a:r>
              <a:t>KI als Hilfsmittel — alle Inhalte haben wir kritisch geprüft. Die Verantwortung liegt bei uns."</a:t>
            </a:r>
          </a:p>
          <a:p/>
          <a:p>
            <a:r>
              <a:t>Pflichtfolie an der OST — nicht überspringen.</a:t>
            </a:r>
          </a:p>
          <a:p/>
          <a:p>
            <a:r>
              <a:t>Übergang: "Wir freuen uns auf eure Fragen."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— 5 Minuten, Felix (SM) &amp; Luis (PO).</a:t>
            </a:r>
          </a:p>
          <a:p/>
          <a:p>
            <a:r>
              <a:t>Wer beantwortet was:</a:t>
            </a:r>
          </a:p>
          <a:p>
            <a:r>
              <a:t>- Prozess, Methode, Teamarbeit, Kommunikationsstrategie, Stakeholder → Felix.</a:t>
            </a:r>
          </a:p>
          <a:p>
            <a:r>
              <a:t>- Produkt, User Stories, Beteiligungsablauf, MVP-Scope, Erkenntnisse → Luis.</a:t>
            </a:r>
          </a:p>
          <a:p>
            <a:r>
              <a:t>- Tech-Fragen (Architektur, KI, Datenschutz im Detail) → beide grob aus dem Video heraus. Für Tiefe: "Das beantwortet Jovin gern asynchron — schreibt uns kurz."</a:t>
            </a:r>
          </a:p>
          <a:p/>
          <a:p>
            <a:r>
              <a:t>Bei Fragen, die im IKTS-Bericht behandelt werden, ruhig darauf verweisen:</a:t>
            </a:r>
          </a:p>
          <a:p>
            <a:r>
              <a:t>- "Im Bericht beschreiben wir das ausführlich — wir können euch das gerne zusenden."</a:t>
            </a:r>
          </a:p>
          <a:p>
            <a:r>
              <a:t>- IKTS-Bericht liegt in docs/documentation/IKTS_Arbeit.pdf.</a:t>
            </a:r>
          </a:p>
          <a:p/>
          <a:p>
            <a:r>
              <a:t>Wenn das Publikum zögert: erste Frage selber anstossen.</a:t>
            </a:r>
          </a:p>
          <a:p>
            <a:r>
              <a:t>- "Eine Frage, die wir uns auch gestellt haben: Was passiert, wenn ein QR-Code weitergegeben wird?"</a:t>
            </a:r>
          </a:p>
          <a:p>
            <a:r>
              <a:t>- "Was war für euch die schwierigste Designentscheidung?"</a:t>
            </a:r>
          </a:p>
          <a:p>
            <a:r>
              <a:t>- "Wie geht es jetzt weiter mit RaumVote?"</a:t>
            </a:r>
          </a:p>
          <a:p/>
          <a:p>
            <a:r>
              <a:t>Abschluss: knapper Dank, "Deine Stimme für deinen Raum." als letztes Wort wenn passend.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